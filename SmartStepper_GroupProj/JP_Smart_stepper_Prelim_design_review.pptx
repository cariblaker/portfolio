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4" r:id="rId1"/>
  </p:sldMasterIdLst>
  <p:sldIdLst>
    <p:sldId id="256" r:id="rId2"/>
    <p:sldId id="257" r:id="rId3"/>
    <p:sldId id="261" r:id="rId4"/>
    <p:sldId id="258" r:id="rId5"/>
    <p:sldId id="259" r:id="rId6"/>
    <p:sldId id="264" r:id="rId7"/>
    <p:sldId id="273" r:id="rId8"/>
    <p:sldId id="276" r:id="rId9"/>
    <p:sldId id="262" r:id="rId10"/>
    <p:sldId id="263" r:id="rId11"/>
    <p:sldId id="274" r:id="rId12"/>
    <p:sldId id="270" r:id="rId13"/>
    <p:sldId id="271" r:id="rId14"/>
    <p:sldId id="275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2E19C-BC0A-4177-8870-6E30F3DC0C26}" v="180" dt="2024-03-14T23:54:49.790"/>
    <p1510:client id="{264ACA81-175C-90A3-8B0E-3CE817C8F007}" v="179" dt="2024-03-16T01:24:23.533"/>
    <p1510:client id="{4EAD098B-885F-A80C-356F-F63EAB5760BF}" v="25" dt="2024-03-15T00:33:52.243"/>
    <p1510:client id="{9833FA3E-43CF-C328-5F00-D7BC5791F4B8}" v="27" dt="2024-03-16T00:40:28.915"/>
    <p1510:client id="{A0B70374-77D1-FEC3-C3A4-A7D36A35AC93}" v="37" dt="2024-03-15T00:35:51.999"/>
    <p1510:client id="{B53D430C-3EA4-8633-A955-BDD6A6DFEDD9}" v="880" dt="2024-03-15T23:53:44.082"/>
    <p1510:client id="{BB3F28E2-E310-5E3C-6262-30D20DF5A136}" v="48" dt="2024-03-16T01:26:47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03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20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35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62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20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137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4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33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928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90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12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06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67" r:id="rId6"/>
    <p:sldLayoutId id="2147483863" r:id="rId7"/>
    <p:sldLayoutId id="2147483864" r:id="rId8"/>
    <p:sldLayoutId id="2147483865" r:id="rId9"/>
    <p:sldLayoutId id="2147483866" r:id="rId10"/>
    <p:sldLayoutId id="21474838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7EE0A6B3-EB7E-45AA-ADB6-138489E0C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!!Rectangle">
            <a:extLst>
              <a:ext uri="{FF2B5EF4-FFF2-40B4-BE49-F238E27FC236}">
                <a16:creationId xmlns:a16="http://schemas.microsoft.com/office/drawing/2014/main" id="{0C0EA1AB-DC8C-4976-9474-9313A673D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21" name="Picture 20" descr="Vector background of vibrant colors splashing">
            <a:extLst>
              <a:ext uri="{FF2B5EF4-FFF2-40B4-BE49-F238E27FC236}">
                <a16:creationId xmlns:a16="http://schemas.microsoft.com/office/drawing/2014/main" id="{E96461F6-77FB-421E-99BB-487CA00817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17279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5366040" cy="23448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Smart Stepper</a:t>
            </a:r>
          </a:p>
        </p:txBody>
      </p:sp>
      <p:sp>
        <p:nvSpPr>
          <p:cNvPr id="6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3369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55951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9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94200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cxnSp>
        <p:nvCxnSpPr>
          <p:cNvPr id="71" name="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8069" y="4520811"/>
            <a:ext cx="5366041" cy="146385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800">
                <a:solidFill>
                  <a:srgbClr val="FFFFFF"/>
                </a:solidFill>
              </a:rPr>
              <a:t>2023 - 2024 OIT Wilsonville Junior Project designed by:</a:t>
            </a:r>
            <a:endParaRPr lang="en-US">
              <a:solidFill>
                <a:srgbClr val="000000"/>
              </a:solidFill>
            </a:endParaRPr>
          </a:p>
          <a:p>
            <a:br>
              <a:rPr lang="en-US" sz="1800"/>
            </a:br>
            <a:r>
              <a:rPr lang="en-US" sz="1800">
                <a:solidFill>
                  <a:srgbClr val="FFFFFF"/>
                </a:solidFill>
              </a:rPr>
              <a:t>Ismael Hernandez-Hernandez</a:t>
            </a:r>
            <a:br>
              <a:rPr lang="en-US" sz="1800"/>
            </a:br>
            <a:r>
              <a:rPr lang="en-US" sz="1800">
                <a:solidFill>
                  <a:srgbClr val="FFFFFF"/>
                </a:solidFill>
              </a:rPr>
              <a:t>Zachary Elliott</a:t>
            </a:r>
            <a:br>
              <a:rPr lang="en-US" sz="1800"/>
            </a:br>
            <a:r>
              <a:rPr lang="en-US" sz="1800">
                <a:solidFill>
                  <a:srgbClr val="FFFFFF"/>
                </a:solidFill>
              </a:rPr>
              <a:t>Ian Gaffney</a:t>
            </a:r>
            <a:br>
              <a:rPr lang="en-US" sz="1800"/>
            </a:br>
            <a:r>
              <a:rPr lang="en-US" sz="1800">
                <a:solidFill>
                  <a:srgbClr val="FFFFFF"/>
                </a:solidFill>
              </a:rPr>
              <a:t>Cari Blaker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62243-E9C3-8497-E369-13F199F92DA7}"/>
              </a:ext>
            </a:extLst>
          </p:cNvPr>
          <p:cNvSpPr txBox="1"/>
          <p:nvPr/>
        </p:nvSpPr>
        <p:spPr>
          <a:xfrm>
            <a:off x="2079037" y="2671703"/>
            <a:ext cx="82220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</a:rPr>
              <a:t>WITH BIOFEEDBACK FOR TOE-WALKERS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59958" y="-471147"/>
            <a:ext cx="11513893" cy="1492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i="0" kern="1200" cap="all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TOE-WALKING?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839E3-52F3-27E6-6729-9A3FC7319A8E}"/>
              </a:ext>
            </a:extLst>
          </p:cNvPr>
          <p:cNvSpPr txBox="1"/>
          <p:nvPr/>
        </p:nvSpPr>
        <p:spPr>
          <a:xfrm>
            <a:off x="1289241" y="1512498"/>
            <a:ext cx="4167481" cy="41377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Problematic gait</a:t>
            </a:r>
          </a:p>
          <a:p>
            <a:pPr marL="342900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Causes further health issues</a:t>
            </a:r>
          </a:p>
          <a:p>
            <a:pPr marL="342900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Affects 5% of the population</a:t>
            </a:r>
          </a:p>
          <a:p>
            <a:pPr>
              <a:lnSpc>
                <a:spcPct val="250000"/>
              </a:lnSpc>
            </a:pP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7632A-7BD3-87DE-C535-EA39046CBBC2}"/>
              </a:ext>
            </a:extLst>
          </p:cNvPr>
          <p:cNvSpPr txBox="1"/>
          <p:nvPr/>
        </p:nvSpPr>
        <p:spPr>
          <a:xfrm>
            <a:off x="6249064" y="1585178"/>
            <a:ext cx="4863629" cy="27162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Gill Sans Nova"/>
                <a:cs typeface="Arial"/>
              </a:rPr>
              <a:t>Physical therapy doesn't help</a:t>
            </a:r>
            <a:endParaRPr lang="en-US"/>
          </a:p>
          <a:p>
            <a:pPr marL="342900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Gill Sans Nova"/>
                <a:cs typeface="Arial"/>
              </a:rPr>
              <a:t>Surgery ineffective</a:t>
            </a:r>
          </a:p>
          <a:p>
            <a:pPr marL="342900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Gill Sans Nova"/>
                <a:cs typeface="Arial"/>
              </a:rPr>
              <a:t>The world needs a solution!</a:t>
            </a:r>
            <a:endParaRPr lang="en-US" sz="2400">
              <a:solidFill>
                <a:schemeClr val="bg1"/>
              </a:solidFill>
              <a:latin typeface="Gill Sans Nova"/>
            </a:endParaRPr>
          </a:p>
        </p:txBody>
      </p:sp>
    </p:spTree>
    <p:extLst>
      <p:ext uri="{BB962C8B-B14F-4D97-AF65-F5344CB8AC3E}">
        <p14:creationId xmlns:p14="http://schemas.microsoft.com/office/powerpoint/2010/main" val="177756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88624" y="-480218"/>
            <a:ext cx="10651630" cy="1492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cap="all">
                <a:solidFill>
                  <a:srgbClr val="FFFFFF"/>
                </a:solidFill>
              </a:rPr>
              <a:t>SOLUTION REQUIREMENTS</a:t>
            </a:r>
            <a:endParaRPr lang="en-US">
              <a:ea typeface="+mj-ea"/>
              <a:cs typeface="+mj-cs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839E3-52F3-27E6-6729-9A3FC7319A8E}"/>
              </a:ext>
            </a:extLst>
          </p:cNvPr>
          <p:cNvSpPr txBox="1"/>
          <p:nvPr/>
        </p:nvSpPr>
        <p:spPr>
          <a:xfrm>
            <a:off x="2509639" y="988415"/>
            <a:ext cx="11526795" cy="59844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Shoe senses gait</a:t>
            </a:r>
            <a:endParaRPr lang="en-US"/>
          </a:p>
          <a:p>
            <a:pPr marL="800100" lvl="1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Feedback for improvement</a:t>
            </a:r>
          </a:p>
          <a:p>
            <a:pPr marL="1257300" lvl="2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Stealthy; medical capability disguised</a:t>
            </a:r>
          </a:p>
          <a:p>
            <a:pPr marL="1714500" lvl="3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Encouragement to heel strike (for kids!)</a:t>
            </a:r>
          </a:p>
          <a:p>
            <a:pPr marL="2171700" lvl="4" indent="-342900">
              <a:lnSpc>
                <a:spcPct val="2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Shareable with parents &amp; medical professionals</a:t>
            </a:r>
          </a:p>
          <a:p>
            <a:pPr>
              <a:lnSpc>
                <a:spcPct val="250000"/>
              </a:lnSpc>
            </a:pP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29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44156" y="-476872"/>
            <a:ext cx="11513893" cy="1492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cap="all">
                <a:solidFill>
                  <a:srgbClr val="FFFFFF"/>
                </a:solidFill>
              </a:rPr>
              <a:t>Smart stepper solution</a:t>
            </a:r>
            <a:endParaRPr lang="en-US">
              <a:ea typeface="+mj-ea"/>
              <a:cs typeface="+mj-cs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839E3-52F3-27E6-6729-9A3FC7319A8E}"/>
              </a:ext>
            </a:extLst>
          </p:cNvPr>
          <p:cNvSpPr txBox="1"/>
          <p:nvPr/>
        </p:nvSpPr>
        <p:spPr>
          <a:xfrm>
            <a:off x="5593763" y="2052680"/>
            <a:ext cx="7025024" cy="3976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</a:rPr>
              <a:t>The Smart Stepper is a shoe featuring:</a:t>
            </a:r>
          </a:p>
          <a:p>
            <a:pPr>
              <a:lnSpc>
                <a:spcPct val="150000"/>
              </a:lnSpc>
            </a:pPr>
            <a:endParaRPr lang="en-US" sz="280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4 embedded piezoelectric sensors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Embedded haptic vibrator (live feedback)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</a:rPr>
              <a:t>Smart watch connection with a week of data feedback/display</a:t>
            </a:r>
            <a:br>
              <a:rPr lang="en-US"/>
            </a:br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 descr="A diagram of a foot&#10;&#10;Description automatically generated">
            <a:extLst>
              <a:ext uri="{FF2B5EF4-FFF2-40B4-BE49-F238E27FC236}">
                <a16:creationId xmlns:a16="http://schemas.microsoft.com/office/drawing/2014/main" id="{34ECC0D4-93D5-A3DA-622E-53B65FC1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331" y="808979"/>
            <a:ext cx="5623580" cy="61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82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9969" y="415233"/>
            <a:ext cx="4836845" cy="60339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cap="all">
                <a:solidFill>
                  <a:srgbClr val="FFFFFF"/>
                </a:solidFill>
              </a:rPr>
              <a:t>HARDWARE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7BDF5-10E7-A030-4A5D-7D9723B9DA04}"/>
              </a:ext>
            </a:extLst>
          </p:cNvPr>
          <p:cNvSpPr txBox="1"/>
          <p:nvPr/>
        </p:nvSpPr>
        <p:spPr>
          <a:xfrm>
            <a:off x="949859" y="1383098"/>
            <a:ext cx="5352143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err="1">
                <a:solidFill>
                  <a:schemeClr val="bg1"/>
                </a:solidFill>
                <a:latin typeface="Gill Sans Nova"/>
                <a:cs typeface="Arial"/>
              </a:rPr>
              <a:t>Seeed</a:t>
            </a:r>
            <a:r>
              <a:rPr lang="en-US">
                <a:solidFill>
                  <a:schemeClr val="bg1"/>
                </a:solidFill>
                <a:latin typeface="Gill Sans Nova"/>
                <a:cs typeface="Arial"/>
              </a:rPr>
              <a:t> Studio Microcontroller:</a:t>
            </a:r>
            <a:br>
              <a:rPr lang="en-US">
                <a:latin typeface="Gill Sans Nova"/>
                <a:cs typeface="Arial"/>
              </a:rPr>
            </a:br>
            <a:r>
              <a:rPr lang="en-US">
                <a:solidFill>
                  <a:schemeClr val="bg1"/>
                </a:solidFill>
                <a:latin typeface="Gill Sans Nova"/>
                <a:cs typeface="Arial"/>
              </a:rPr>
              <a:t>- small enough to be encapsulated by shoe comfortably</a:t>
            </a:r>
            <a:br>
              <a:rPr lang="en-US">
                <a:latin typeface="Gill Sans Nova"/>
                <a:cs typeface="Arial"/>
              </a:rPr>
            </a:br>
            <a:r>
              <a:rPr lang="en-US">
                <a:solidFill>
                  <a:schemeClr val="bg1"/>
                </a:solidFill>
                <a:latin typeface="Gill Sans Nova"/>
                <a:cs typeface="Arial"/>
              </a:rPr>
              <a:t>- supports analog input (with enough pins) from piezoelectric sensors</a:t>
            </a:r>
            <a:br>
              <a:rPr lang="en-US">
                <a:latin typeface="Gill Sans Nova"/>
                <a:cs typeface="Arial"/>
              </a:rPr>
            </a:br>
            <a:r>
              <a:rPr lang="en-US">
                <a:solidFill>
                  <a:schemeClr val="bg1"/>
                </a:solidFill>
                <a:latin typeface="Gill Sans Nova"/>
                <a:cs typeface="Arial"/>
              </a:rPr>
              <a:t>- supports BLE connection</a:t>
            </a:r>
            <a:br>
              <a:rPr lang="en-US">
                <a:latin typeface="Gill Sans Nova"/>
                <a:cs typeface="Arial"/>
              </a:rPr>
            </a:br>
            <a:r>
              <a:rPr lang="en-US">
                <a:solidFill>
                  <a:schemeClr val="bg1"/>
                </a:solidFill>
                <a:latin typeface="Gill Sans Nova"/>
                <a:cs typeface="Arial"/>
              </a:rPr>
              <a:t>- internal battery, plus external battery &amp; its charging support</a:t>
            </a:r>
            <a:br>
              <a:rPr lang="en-US">
                <a:latin typeface="Gill Sans Nova"/>
                <a:cs typeface="Arial"/>
              </a:rPr>
            </a:br>
            <a:r>
              <a:rPr lang="en-US">
                <a:solidFill>
                  <a:schemeClr val="bg1"/>
                </a:solidFill>
                <a:latin typeface="Gill Sans Nova"/>
                <a:cs typeface="Arial"/>
              </a:rPr>
              <a:t>- plenty of on-chip and on-board memory</a:t>
            </a:r>
          </a:p>
          <a:p>
            <a:pPr marL="285750" lvl="1" indent="-285750">
              <a:buFont typeface="Calibri"/>
              <a:buChar char="-"/>
            </a:pPr>
            <a:endParaRPr lang="en-US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Four Piezoelectric sensors:</a:t>
            </a:r>
          </a:p>
          <a:p>
            <a:pPr marL="742950" lvl="1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provide feedback voltage</a:t>
            </a:r>
          </a:p>
          <a:p>
            <a:pPr marL="742950" lvl="1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save on power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3.7V battery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Haptic Vibrator : provides live feedback by vibrating on toe strikes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742950" lvl="1" indent="-285750">
              <a:buFont typeface="Calibri"/>
              <a:buChar char="-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Courier New"/>
              <a:buChar char="o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Courier New"/>
              <a:buChar char="o"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2128C-B50A-FCBF-3FC7-3256A06511F9}"/>
              </a:ext>
            </a:extLst>
          </p:cNvPr>
          <p:cNvSpPr txBox="1"/>
          <p:nvPr/>
        </p:nvSpPr>
        <p:spPr>
          <a:xfrm>
            <a:off x="7411357" y="1469571"/>
            <a:ext cx="51616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1"/>
                </a:solidFill>
                <a:latin typeface="Gill Sans Nova"/>
                <a:cs typeface="Arial"/>
              </a:rPr>
              <a:t>Bangle.JS 2.0 Smart Watch</a:t>
            </a:r>
            <a:br>
              <a:rPr lang="en-US">
                <a:latin typeface="Gill Sans Nova"/>
                <a:cs typeface="Arial"/>
              </a:rPr>
            </a:br>
            <a:r>
              <a:rPr lang="en-US">
                <a:solidFill>
                  <a:schemeClr val="bg1"/>
                </a:solidFill>
                <a:latin typeface="Gill Sans Nova"/>
                <a:cs typeface="Arial"/>
              </a:rPr>
              <a:t>         - BLE capability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             - fully programmable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9F0B5-E2DD-536C-9C1C-827639E8F98A}"/>
              </a:ext>
            </a:extLst>
          </p:cNvPr>
          <p:cNvSpPr txBox="1"/>
          <p:nvPr/>
        </p:nvSpPr>
        <p:spPr>
          <a:xfrm>
            <a:off x="762000" y="979714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PER SHOE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582EE-05CE-B8E3-FF0D-73F10FAB5D17}"/>
              </a:ext>
            </a:extLst>
          </p:cNvPr>
          <p:cNvSpPr txBox="1"/>
          <p:nvPr/>
        </p:nvSpPr>
        <p:spPr>
          <a:xfrm>
            <a:off x="6912427" y="979713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PER PROJECT</a:t>
            </a:r>
          </a:p>
        </p:txBody>
      </p:sp>
      <p:pic>
        <p:nvPicPr>
          <p:cNvPr id="9" name="Picture 8" descr="A diagram of a foot&#10;&#10;Description automatically generated">
            <a:extLst>
              <a:ext uri="{FF2B5EF4-FFF2-40B4-BE49-F238E27FC236}">
                <a16:creationId xmlns:a16="http://schemas.microsoft.com/office/drawing/2014/main" id="{1A82663D-4A6C-8D9E-5A3D-380F0A9B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50" y="2431940"/>
            <a:ext cx="4129270" cy="447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53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12658" y="-412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0" y="443376"/>
            <a:ext cx="7754502" cy="5833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cap="all">
                <a:solidFill>
                  <a:srgbClr val="FFFFFF"/>
                </a:solidFill>
              </a:rPr>
              <a:t>HARDWARE Encasement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7BDF5-10E7-A030-4A5D-7D9723B9DA04}"/>
              </a:ext>
            </a:extLst>
          </p:cNvPr>
          <p:cNvSpPr txBox="1"/>
          <p:nvPr/>
        </p:nvSpPr>
        <p:spPr>
          <a:xfrm>
            <a:off x="1560762" y="1439015"/>
            <a:ext cx="535214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Thermoplastic Polyurethane (TPU) Filament 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12% Infill </a:t>
            </a:r>
          </a:p>
          <a:p>
            <a:pPr marL="742950" lvl="1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182 grams used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2128C-B50A-FCBF-3FC7-3256A06511F9}"/>
              </a:ext>
            </a:extLst>
          </p:cNvPr>
          <p:cNvSpPr txBox="1"/>
          <p:nvPr/>
        </p:nvSpPr>
        <p:spPr>
          <a:xfrm>
            <a:off x="7411357" y="1469571"/>
            <a:ext cx="51616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endParaRPr lang="en-US">
              <a:solidFill>
                <a:schemeClr val="bg1"/>
              </a:solidFill>
              <a:ea typeface="+mn-lt"/>
              <a:cs typeface="Arial"/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9F0B5-E2DD-536C-9C1C-827639E8F98A}"/>
              </a:ext>
            </a:extLst>
          </p:cNvPr>
          <p:cNvSpPr txBox="1"/>
          <p:nvPr/>
        </p:nvSpPr>
        <p:spPr>
          <a:xfrm>
            <a:off x="1133929" y="979714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3D Printing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582EE-05CE-B8E3-FF0D-73F10FAB5D17}"/>
              </a:ext>
            </a:extLst>
          </p:cNvPr>
          <p:cNvSpPr txBox="1"/>
          <p:nvPr/>
        </p:nvSpPr>
        <p:spPr>
          <a:xfrm>
            <a:off x="6912427" y="979713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2" name="Picture 11" descr="A red and yellow pattern&#10;&#10;Description automatically generated">
            <a:extLst>
              <a:ext uri="{FF2B5EF4-FFF2-40B4-BE49-F238E27FC236}">
                <a16:creationId xmlns:a16="http://schemas.microsoft.com/office/drawing/2014/main" id="{A0C50F07-4160-5A3C-D6CD-BEB41B7CE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883" y="3014132"/>
            <a:ext cx="1334959" cy="3352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1CC5A7-33BE-8655-E7E7-5E7566DD6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92" y="2311548"/>
            <a:ext cx="6598388" cy="458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8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1061" y="11306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8872" y="435908"/>
            <a:ext cx="7754502" cy="5833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cap="all">
                <a:solidFill>
                  <a:srgbClr val="FFFFFF"/>
                </a:solidFill>
              </a:rPr>
              <a:t>SEEED BOARD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7BDF5-10E7-A030-4A5D-7D9723B9DA04}"/>
              </a:ext>
            </a:extLst>
          </p:cNvPr>
          <p:cNvSpPr txBox="1"/>
          <p:nvPr/>
        </p:nvSpPr>
        <p:spPr>
          <a:xfrm>
            <a:off x="905374" y="1048346"/>
            <a:ext cx="535214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Nova"/>
                <a:ea typeface="+mn-ea"/>
                <a:cs typeface="+mn-cs"/>
              </a:rPr>
              <a:t>KiCad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Nova"/>
                <a:ea typeface="+mn-ea"/>
                <a:cs typeface="+mn-cs"/>
              </a:rPr>
              <a:t> EDA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Nova"/>
                <a:ea typeface="+mn-ea"/>
                <a:cs typeface="+mn-cs"/>
              </a:rPr>
              <a:t>jlcpcb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>
                <a:solidFill>
                  <a:srgbClr val="FFFFFF"/>
                </a:solidFill>
                <a:latin typeface="Gill Sans Nova"/>
              </a:rPr>
              <a:t>FLEX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2128C-B50A-FCBF-3FC7-3256A06511F9}"/>
              </a:ext>
            </a:extLst>
          </p:cNvPr>
          <p:cNvSpPr txBox="1"/>
          <p:nvPr/>
        </p:nvSpPr>
        <p:spPr>
          <a:xfrm>
            <a:off x="7411357" y="1469571"/>
            <a:ext cx="51616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lt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582EE-05CE-B8E3-FF0D-73F10FAB5D17}"/>
              </a:ext>
            </a:extLst>
          </p:cNvPr>
          <p:cNvSpPr txBox="1"/>
          <p:nvPr/>
        </p:nvSpPr>
        <p:spPr>
          <a:xfrm>
            <a:off x="6912427" y="979713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7DF2B9A0-D152-1DDB-766C-009BA613BF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46" b="9495"/>
          <a:stretch/>
        </p:blipFill>
        <p:spPr>
          <a:xfrm>
            <a:off x="5539720" y="6283"/>
            <a:ext cx="6664773" cy="3846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2D849-E298-DA1D-86CC-B40681E561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32" b="14709"/>
          <a:stretch/>
        </p:blipFill>
        <p:spPr>
          <a:xfrm>
            <a:off x="3767" y="3024566"/>
            <a:ext cx="6616297" cy="383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26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1061" y="11306"/>
            <a:ext cx="12191980" cy="6858000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2128C-B50A-FCBF-3FC7-3256A06511F9}"/>
              </a:ext>
            </a:extLst>
          </p:cNvPr>
          <p:cNvSpPr txBox="1"/>
          <p:nvPr/>
        </p:nvSpPr>
        <p:spPr>
          <a:xfrm>
            <a:off x="7411357" y="1469571"/>
            <a:ext cx="51616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lt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582EE-05CE-B8E3-FF0D-73F10FAB5D17}"/>
              </a:ext>
            </a:extLst>
          </p:cNvPr>
          <p:cNvSpPr txBox="1"/>
          <p:nvPr/>
        </p:nvSpPr>
        <p:spPr>
          <a:xfrm>
            <a:off x="6912427" y="979713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219BF158-AE38-F36F-5D55-82A20C2BB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" y="985299"/>
            <a:ext cx="12188943" cy="58938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50803F4-A7FB-E1A3-E56A-7587D2BAB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76910" y="292134"/>
            <a:ext cx="7754502" cy="5833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cap="all">
                <a:solidFill>
                  <a:srgbClr val="FFFFFF"/>
                </a:solidFill>
              </a:rPr>
              <a:t>CIRCUIT </a:t>
            </a:r>
            <a:r>
              <a:rPr lang="en-US" sz="5400" cap="all" err="1">
                <a:solidFill>
                  <a:srgbClr val="FFFFFF"/>
                </a:solidFill>
              </a:rPr>
              <a:t>bOARD</a:t>
            </a:r>
          </a:p>
        </p:txBody>
      </p:sp>
      <p:pic>
        <p:nvPicPr>
          <p:cNvPr id="14" name="Picture 13" descr="A diagram of a circuit&#10;&#10;Description automatically generated">
            <a:extLst>
              <a:ext uri="{FF2B5EF4-FFF2-40B4-BE49-F238E27FC236}">
                <a16:creationId xmlns:a16="http://schemas.microsoft.com/office/drawing/2014/main" id="{0B958255-D8DD-9493-40E2-FBF7973FC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77" y="979457"/>
            <a:ext cx="7997764" cy="589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19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20" y="-8313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9244" y="408782"/>
            <a:ext cx="4836845" cy="60339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cap="all">
                <a:solidFill>
                  <a:srgbClr val="FFFFFF"/>
                </a:solidFill>
              </a:rPr>
              <a:t>SOFTWARE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7ABFB4-8215-0F18-221F-38E17AE67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495788"/>
              </p:ext>
            </p:extLst>
          </p:nvPr>
        </p:nvGraphicFramePr>
        <p:xfrm>
          <a:off x="689428" y="2385785"/>
          <a:ext cx="10772148" cy="22864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90716">
                  <a:extLst>
                    <a:ext uri="{9D8B030D-6E8A-4147-A177-3AD203B41FA5}">
                      <a16:colId xmlns:a16="http://schemas.microsoft.com/office/drawing/2014/main" val="3594517561"/>
                    </a:ext>
                  </a:extLst>
                </a:gridCol>
                <a:gridCol w="3590716">
                  <a:extLst>
                    <a:ext uri="{9D8B030D-6E8A-4147-A177-3AD203B41FA5}">
                      <a16:colId xmlns:a16="http://schemas.microsoft.com/office/drawing/2014/main" val="3873699545"/>
                    </a:ext>
                  </a:extLst>
                </a:gridCol>
                <a:gridCol w="3590716">
                  <a:extLst>
                    <a:ext uri="{9D8B030D-6E8A-4147-A177-3AD203B41FA5}">
                      <a16:colId xmlns:a16="http://schemas.microsoft.com/office/drawing/2014/main" val="4060905410"/>
                    </a:ext>
                  </a:extLst>
                </a:gridCol>
              </a:tblGrid>
              <a:tr h="381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Device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Language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69502"/>
                  </a:ext>
                </a:extLst>
              </a:tr>
              <a:tr h="381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Fusion 360 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CAD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N/A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197635"/>
                  </a:ext>
                </a:extLst>
              </a:tr>
              <a:tr h="381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Prusa Printer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>
                          <a:solidFill>
                            <a:schemeClr val="bg1"/>
                          </a:solidFill>
                        </a:rPr>
                        <a:t>PrusaSlicer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>
                          <a:solidFill>
                            <a:schemeClr val="bg1"/>
                          </a:solidFill>
                        </a:rPr>
                        <a:t>Gcode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 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328976"/>
                  </a:ext>
                </a:extLst>
              </a:tr>
              <a:tr h="381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>
                          <a:solidFill>
                            <a:schemeClr val="bg1"/>
                          </a:solidFill>
                        </a:rPr>
                        <a:t>Seeed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studio microcontroller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Arduino IDE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Arduino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641684"/>
                  </a:ext>
                </a:extLst>
              </a:tr>
              <a:tr h="381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Bangle.JS 2.0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solidFill>
                            <a:schemeClr val="bg1"/>
                          </a:solidFill>
                        </a:rPr>
                        <a:t>Espruino's</a:t>
                      </a:r>
                      <a:r>
                        <a:rPr lang="en-US">
                          <a:solidFill>
                            <a:schemeClr val="bg1"/>
                          </a:solidFill>
                        </a:rPr>
                        <a:t> Web IDE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JavaScript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419354"/>
                  </a:ext>
                </a:extLst>
              </a:tr>
              <a:tr h="3810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KiCad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EDA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s-expression schematic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N/A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675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408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958" y="408781"/>
            <a:ext cx="4836845" cy="60339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cap="all">
                <a:solidFill>
                  <a:srgbClr val="FFFFFF"/>
                </a:solidFill>
              </a:rPr>
              <a:t>SOFTWARE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" name="Picture 4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8ECF1E68-67D3-BD37-8E7D-1EEAB6F16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318" y="1772771"/>
            <a:ext cx="8050305" cy="352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01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1061" y="11306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828" y="455700"/>
            <a:ext cx="4706503" cy="5833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cap="all">
                <a:solidFill>
                  <a:srgbClr val="FFFFFF"/>
                </a:solidFill>
              </a:rPr>
              <a:t>Graph Display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2128C-B50A-FCBF-3FC7-3256A06511F9}"/>
              </a:ext>
            </a:extLst>
          </p:cNvPr>
          <p:cNvSpPr txBox="1"/>
          <p:nvPr/>
        </p:nvSpPr>
        <p:spPr>
          <a:xfrm>
            <a:off x="7411357" y="1469571"/>
            <a:ext cx="51616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,Sans-Serif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lt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582EE-05CE-B8E3-FF0D-73F10FAB5D17}"/>
              </a:ext>
            </a:extLst>
          </p:cNvPr>
          <p:cNvSpPr txBox="1"/>
          <p:nvPr/>
        </p:nvSpPr>
        <p:spPr>
          <a:xfrm>
            <a:off x="6912427" y="979713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3BCFE0-CED6-C95E-6FC2-BF25DCCD3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516029"/>
              </p:ext>
            </p:extLst>
          </p:nvPr>
        </p:nvGraphicFramePr>
        <p:xfrm>
          <a:off x="1630810" y="1711205"/>
          <a:ext cx="2729389" cy="45723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29389">
                  <a:extLst>
                    <a:ext uri="{9D8B030D-6E8A-4147-A177-3AD203B41FA5}">
                      <a16:colId xmlns:a16="http://schemas.microsoft.com/office/drawing/2014/main" val="1672771941"/>
                    </a:ext>
                  </a:extLst>
                </a:gridCol>
              </a:tblGrid>
              <a:tr h="366155">
                <a:tc>
                  <a:txBody>
                    <a:bodyPr/>
                    <a:lstStyle/>
                    <a:p>
                      <a:r>
                        <a:rPr lang="en-US"/>
                        <a:t>Foot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833933"/>
                  </a:ext>
                </a:extLst>
              </a:tr>
              <a:tr h="1296389">
                <a:tc>
                  <a:txBody>
                    <a:bodyPr/>
                    <a:lstStyle/>
                    <a:p>
                      <a:r>
                        <a:rPr lang="en-US"/>
                        <a:t>+good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+bad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+total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bottom_steps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top_steps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bottom_color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top_color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x_start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x_finish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y_bottom_start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y_top_start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y_bottom_finish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y_top_finish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+update(good, bad)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1006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0B5E40A-D65A-C038-748F-9393D36A3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519376"/>
              </p:ext>
            </p:extLst>
          </p:nvPr>
        </p:nvGraphicFramePr>
        <p:xfrm>
          <a:off x="7360777" y="2401316"/>
          <a:ext cx="2418420" cy="3200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420">
                  <a:extLst>
                    <a:ext uri="{9D8B030D-6E8A-4147-A177-3AD203B41FA5}">
                      <a16:colId xmlns:a16="http://schemas.microsoft.com/office/drawing/2014/main" val="832334911"/>
                    </a:ext>
                  </a:extLst>
                </a:gridCol>
              </a:tblGrid>
              <a:tr h="3661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Bar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48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+day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+date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day_relation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file_contents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+left foot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+right foot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highest_total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+</a:t>
                      </a:r>
                      <a:r>
                        <a:rPr lang="en-US" err="1"/>
                        <a:t>parse_file</a:t>
                      </a:r>
                      <a:r>
                        <a:rPr lang="en-US"/>
                        <a:t>(contents)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+update()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931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254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8963" y="-8313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40530" y="445068"/>
            <a:ext cx="7754502" cy="5833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cap="all">
                <a:solidFill>
                  <a:srgbClr val="FFFFFF"/>
                </a:solidFill>
              </a:rPr>
              <a:t>costs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2128C-B50A-FCBF-3FC7-3256A06511F9}"/>
              </a:ext>
            </a:extLst>
          </p:cNvPr>
          <p:cNvSpPr txBox="1"/>
          <p:nvPr/>
        </p:nvSpPr>
        <p:spPr>
          <a:xfrm>
            <a:off x="7411357" y="1469571"/>
            <a:ext cx="51616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endParaRPr lang="en-US">
              <a:solidFill>
                <a:schemeClr val="bg1"/>
              </a:solidFill>
              <a:ea typeface="+mn-lt"/>
              <a:cs typeface="Arial"/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582EE-05CE-B8E3-FF0D-73F10FAB5D17}"/>
              </a:ext>
            </a:extLst>
          </p:cNvPr>
          <p:cNvSpPr txBox="1"/>
          <p:nvPr/>
        </p:nvSpPr>
        <p:spPr>
          <a:xfrm>
            <a:off x="6912427" y="979713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9A9450-4F5F-1044-77C9-B50BC3017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058620"/>
              </p:ext>
            </p:extLst>
          </p:nvPr>
        </p:nvGraphicFramePr>
        <p:xfrm>
          <a:off x="2177142" y="961571"/>
          <a:ext cx="8314718" cy="5764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6857">
                  <a:extLst>
                    <a:ext uri="{9D8B030D-6E8A-4147-A177-3AD203B41FA5}">
                      <a16:colId xmlns:a16="http://schemas.microsoft.com/office/drawing/2014/main" val="3105753009"/>
                    </a:ext>
                  </a:extLst>
                </a:gridCol>
                <a:gridCol w="898071">
                  <a:extLst>
                    <a:ext uri="{9D8B030D-6E8A-4147-A177-3AD203B41FA5}">
                      <a16:colId xmlns:a16="http://schemas.microsoft.com/office/drawing/2014/main" val="2149114757"/>
                    </a:ext>
                  </a:extLst>
                </a:gridCol>
                <a:gridCol w="2129895">
                  <a:extLst>
                    <a:ext uri="{9D8B030D-6E8A-4147-A177-3AD203B41FA5}">
                      <a16:colId xmlns:a16="http://schemas.microsoft.com/office/drawing/2014/main" val="3141566367"/>
                    </a:ext>
                  </a:extLst>
                </a:gridCol>
                <a:gridCol w="2129895">
                  <a:extLst>
                    <a:ext uri="{9D8B030D-6E8A-4147-A177-3AD203B41FA5}">
                      <a16:colId xmlns:a16="http://schemas.microsoft.com/office/drawing/2014/main" val="4284028727"/>
                    </a:ext>
                  </a:extLst>
                </a:gridCol>
              </a:tblGrid>
              <a:tr h="644071">
                <a:tc>
                  <a:txBody>
                    <a:bodyPr/>
                    <a:lstStyle/>
                    <a:p>
                      <a:pPr fontAlgn="t"/>
                      <a:endParaRPr lang="en-US" sz="1800" b="1"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1" i="0">
                          <a:effectLst/>
                          <a:latin typeface="Gill Sans Nova"/>
                        </a:rPr>
                        <a:t> Product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 b="1"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1" i="0">
                          <a:effectLst/>
                          <a:latin typeface="Gill Sans Nova"/>
                        </a:rPr>
                        <a:t>Units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 b="1"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1" i="0">
                          <a:effectLst/>
                          <a:latin typeface="Gill Sans Nova"/>
                        </a:rPr>
                        <a:t>Price Per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 b="1"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1" i="0">
                          <a:effectLst/>
                          <a:latin typeface="Gill Sans Nova"/>
                        </a:rPr>
                        <a:t>Cost Per Project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6934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Bangle.JS 2 Smart Watch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1 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$93.22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$93.22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0621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 err="1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Seeed</a:t>
                      </a:r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 Studio Microcontroller 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2 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$15.99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$31.98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3955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3.7V Lithium Ion Battery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2 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$14.95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$29.90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4264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Piezo Electric Sensor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10 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$0.79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$6.32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0368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Haptic Vibrator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2 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$1.20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$2.40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8435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Shoes (pair)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1 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$60.00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$60.00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0577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Filament TPU Roll (0.75 Kg)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1 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$29.99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$14.99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0143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Total Physical Cost 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endParaRPr lang="en-US" sz="1800" b="0" i="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endParaRPr lang="en-US" sz="1800" b="0" i="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800">
                        <a:solidFill>
                          <a:schemeClr val="bg1"/>
                        </a:solidFill>
                        <a:effectLst/>
                        <a:latin typeface="Gill Sans Nova"/>
                      </a:endParaRPr>
                    </a:p>
                    <a:p>
                      <a:pPr algn="l" rtl="0" fontAlgn="base"/>
                      <a:r>
                        <a:rPr lang="en-US" sz="1800" b="0" i="0">
                          <a:solidFill>
                            <a:schemeClr val="bg1"/>
                          </a:solidFill>
                          <a:effectLst/>
                          <a:latin typeface="Gill Sans Nova"/>
                        </a:rPr>
                        <a:t>$238.81</a:t>
                      </a: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667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986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86958" y="435997"/>
            <a:ext cx="7754502" cy="5833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cap="all">
                <a:solidFill>
                  <a:srgbClr val="FFFFFF"/>
                </a:solidFill>
              </a:rPr>
              <a:t>schedule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2128C-B50A-FCBF-3FC7-3256A06511F9}"/>
              </a:ext>
            </a:extLst>
          </p:cNvPr>
          <p:cNvSpPr txBox="1"/>
          <p:nvPr/>
        </p:nvSpPr>
        <p:spPr>
          <a:xfrm>
            <a:off x="7411357" y="1469571"/>
            <a:ext cx="51616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endParaRPr lang="en-US">
              <a:solidFill>
                <a:schemeClr val="bg1"/>
              </a:solidFill>
              <a:ea typeface="+mn-lt"/>
              <a:cs typeface="Arial"/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582EE-05CE-B8E3-FF0D-73F10FAB5D17}"/>
              </a:ext>
            </a:extLst>
          </p:cNvPr>
          <p:cNvSpPr txBox="1"/>
          <p:nvPr/>
        </p:nvSpPr>
        <p:spPr>
          <a:xfrm>
            <a:off x="6912427" y="979713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2C61E-5DB6-2CDA-2E2A-1204BA7665E0}"/>
              </a:ext>
            </a:extLst>
          </p:cNvPr>
          <p:cNvSpPr txBox="1"/>
          <p:nvPr/>
        </p:nvSpPr>
        <p:spPr>
          <a:xfrm>
            <a:off x="1466868" y="1614186"/>
            <a:ext cx="5352143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b="1">
                <a:solidFill>
                  <a:schemeClr val="bg1"/>
                </a:solidFill>
              </a:rPr>
              <a:t>This term: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Read/Write data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Bluetooth Connection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Data histogram display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Board Creation 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3D Insoles printed 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Testing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703576-E88E-A07F-489C-2A552F05C270}"/>
              </a:ext>
            </a:extLst>
          </p:cNvPr>
          <p:cNvSpPr txBox="1"/>
          <p:nvPr/>
        </p:nvSpPr>
        <p:spPr>
          <a:xfrm>
            <a:off x="6056778" y="1478309"/>
            <a:ext cx="576018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n-US" b="1">
                <a:solidFill>
                  <a:schemeClr val="bg1"/>
                </a:solidFill>
              </a:rPr>
              <a:t>Spring term: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Idea Fest preparation 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PCB board order 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Rigorous testing and refining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Game creation 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Insole changes—waterproofing!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Phone app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Game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BLE completion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Adding sensor arrays for accuracy</a:t>
            </a:r>
          </a:p>
          <a:p>
            <a:pPr>
              <a:lnSpc>
                <a:spcPct val="200000"/>
              </a:lnSpc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954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6" name="Picture 55" descr="Worm's eye view of the feet of a person running on the road">
            <a:extLst>
              <a:ext uri="{FF2B5EF4-FFF2-40B4-BE49-F238E27FC236}">
                <a16:creationId xmlns:a16="http://schemas.microsoft.com/office/drawing/2014/main" id="{5EFC3E0B-E05B-1E18-0730-3D7014B560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r="-2" b="11925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26EB5-B0EF-DA1B-220D-E446F5A2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016" y="3243365"/>
            <a:ext cx="7754502" cy="5833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cap="all">
                <a:solidFill>
                  <a:srgbClr val="FFFFFF"/>
                </a:solidFill>
              </a:rPr>
              <a:t>Are you ready for a demonstration?!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6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2128C-B50A-FCBF-3FC7-3256A06511F9}"/>
              </a:ext>
            </a:extLst>
          </p:cNvPr>
          <p:cNvSpPr txBox="1"/>
          <p:nvPr/>
        </p:nvSpPr>
        <p:spPr>
          <a:xfrm>
            <a:off x="7411357" y="1469571"/>
            <a:ext cx="51616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endParaRPr lang="en-US">
              <a:solidFill>
                <a:schemeClr val="bg1"/>
              </a:solidFill>
              <a:ea typeface="+mn-lt"/>
              <a:cs typeface="Arial"/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582EE-05CE-B8E3-FF0D-73F10FAB5D17}"/>
              </a:ext>
            </a:extLst>
          </p:cNvPr>
          <p:cNvSpPr txBox="1"/>
          <p:nvPr/>
        </p:nvSpPr>
        <p:spPr>
          <a:xfrm>
            <a:off x="6912427" y="979713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867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4200F4-AA43-059B-BF60-18A49D0CC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900791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cap="all">
                <a:solidFill>
                  <a:schemeClr val="bg1"/>
                </a:solidFill>
              </a:rPr>
              <a:t>Thank you</a:t>
            </a:r>
            <a:endParaRPr lang="en-US" sz="6000" b="1" i="0" kern="1200" cap="all" baseline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45009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Custom 42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GradientVTI</vt:lpstr>
      <vt:lpstr>Smart Stepper</vt:lpstr>
      <vt:lpstr>WHAT IS TOE-WALKING?</vt:lpstr>
      <vt:lpstr>SOLUTION REQUIREMENTS</vt:lpstr>
      <vt:lpstr>Smart stepper solution</vt:lpstr>
      <vt:lpstr>HARDWARE</vt:lpstr>
      <vt:lpstr>HARDWARE Encasement</vt:lpstr>
      <vt:lpstr>SEEED BOARD</vt:lpstr>
      <vt:lpstr>CIRCUIT bOARD</vt:lpstr>
      <vt:lpstr>SOFTWARE</vt:lpstr>
      <vt:lpstr>SOFTWARE</vt:lpstr>
      <vt:lpstr>Graph Display</vt:lpstr>
      <vt:lpstr>costs</vt:lpstr>
      <vt:lpstr>schedule</vt:lpstr>
      <vt:lpstr>Are you ready for a demonstration?!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2023-11-07T20:50:12Z</dcterms:created>
  <dcterms:modified xsi:type="dcterms:W3CDTF">2024-06-20T20:54:59Z</dcterms:modified>
</cp:coreProperties>
</file>